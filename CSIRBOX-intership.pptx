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" charset="1" panose="02020603050405020304"/>
      <p:regular r:id="rId16"/>
    </p:embeddedFont>
    <p:embeddedFont>
      <p:font typeface="Glacial Indifference" charset="1" panose="00000000000000000000"/>
      <p:regular r:id="rId17"/>
    </p:embeddedFont>
    <p:embeddedFont>
      <p:font typeface="Cormorant Garamond Bold Italics" charset="1" panose="00000800000000000000"/>
      <p:regular r:id="rId18"/>
    </p:embeddedFont>
    <p:embeddedFont>
      <p:font typeface="Glacial Indifferen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9057" y="298404"/>
            <a:ext cx="15765123" cy="384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3"/>
              </a:lnSpc>
            </a:pPr>
            <a:r>
              <a:rPr lang="en-US" sz="11383">
                <a:solidFill>
                  <a:srgbClr val="2D38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Education AI</a:t>
            </a:r>
          </a:p>
          <a:p>
            <a:pPr algn="l" marL="0" indent="0" lvl="0">
              <a:lnSpc>
                <a:spcPts val="9093"/>
              </a:lnSpc>
            </a:pPr>
            <a:r>
              <a:rPr lang="en-US" sz="9093">
                <a:solidFill>
                  <a:srgbClr val="2D38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AI-Powered Personalised Learning Assistant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9057" y="5201455"/>
            <a:ext cx="1036809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sz="44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Aligned with SDG 4 – Quality Education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057" y="7020731"/>
            <a:ext cx="12438669" cy="142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CSRBOX – IBM SkillsBuild Applied AI Internship 2025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Name: Bheemraj Paidipelli</a:t>
            </a:r>
          </a:p>
        </p:txBody>
      </p:sp>
      <p:sp>
        <p:nvSpPr>
          <p:cNvPr name="AutoShape 8" id="8"/>
          <p:cNvSpPr/>
          <p:nvPr/>
        </p:nvSpPr>
        <p:spPr>
          <a:xfrm>
            <a:off x="619057" y="225347"/>
            <a:ext cx="0" cy="3825642"/>
          </a:xfrm>
          <a:prstGeom prst="line">
            <a:avLst/>
          </a:prstGeom>
          <a:ln cap="flat" w="5715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5796756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794" y="648305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8953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Introduction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86379" y="3029301"/>
            <a:ext cx="842787" cy="8427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86379" y="4157838"/>
            <a:ext cx="842787" cy="8427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86379" y="5286375"/>
            <a:ext cx="842787" cy="8427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86379" y="6414912"/>
            <a:ext cx="842787" cy="84278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837582" y="3164945"/>
            <a:ext cx="897732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 learning platforms are widely used today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37582" y="4283957"/>
            <a:ext cx="10219860" cy="112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students still struggle with understanding academic concepts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37582" y="5417431"/>
            <a:ext cx="956124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Different learners require different explanation depths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37582" y="6541381"/>
            <a:ext cx="911845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can play a key role in personalized education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40011" y="990600"/>
            <a:ext cx="761414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0405" y="2816700"/>
            <a:ext cx="10685025" cy="534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8174" indent="-389087" lvl="1">
              <a:lnSpc>
                <a:spcPts val="6127"/>
              </a:lnSpc>
              <a:buFont typeface="Arial"/>
              <a:buChar char="•"/>
            </a:pPr>
            <a:r>
              <a:rPr lang="en-US" sz="36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educational tools provide generic explanations</a:t>
            </a:r>
          </a:p>
          <a:p>
            <a:pPr algn="l" marL="778174" indent="-389087" lvl="1">
              <a:lnSpc>
                <a:spcPts val="6127"/>
              </a:lnSpc>
              <a:buFont typeface="Arial"/>
              <a:buChar char="•"/>
            </a:pPr>
            <a:r>
              <a:rPr lang="en-US" sz="36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One-size-fits-all learning leads to confusion and gaps</a:t>
            </a:r>
          </a:p>
          <a:p>
            <a:pPr algn="l" marL="778174" indent="-389087" lvl="1">
              <a:lnSpc>
                <a:spcPts val="6127"/>
              </a:lnSpc>
              <a:buFont typeface="Arial"/>
              <a:buChar char="•"/>
            </a:pPr>
            <a:r>
              <a:rPr lang="en-US" sz="36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Academic correctness is not always ensured</a:t>
            </a:r>
          </a:p>
          <a:p>
            <a:pPr algn="l" marL="778174" indent="-389087" lvl="1">
              <a:lnSpc>
                <a:spcPts val="6127"/>
              </a:lnSpc>
              <a:buFont typeface="Arial"/>
              <a:buChar char="•"/>
            </a:pPr>
            <a:r>
              <a:rPr lang="en-US" sz="3604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Need for intelligent, adaptive learning support</a:t>
            </a:r>
          </a:p>
          <a:p>
            <a:pPr algn="l" marL="0" indent="0" lvl="0">
              <a:lnSpc>
                <a:spcPts val="612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81014" y="990600"/>
            <a:ext cx="8649107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Context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1887" y="3240790"/>
            <a:ext cx="12444922" cy="491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3"/>
              </a:lnSpc>
            </a:pPr>
          </a:p>
          <a:p>
            <a:pPr algn="l" marL="714228" indent="-357114" lvl="1">
              <a:lnSpc>
                <a:spcPts val="5623"/>
              </a:lnSpc>
              <a:buFont typeface="Arial"/>
              <a:buChar char="•"/>
            </a:pPr>
            <a:r>
              <a:rPr lang="en-US" sz="33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Students face difficulty when explanations are not level-appropriate</a:t>
            </a:r>
          </a:p>
          <a:p>
            <a:pPr algn="l" marL="714228" indent="-357114" lvl="1">
              <a:lnSpc>
                <a:spcPts val="5623"/>
              </a:lnSpc>
              <a:buFont typeface="Arial"/>
              <a:buChar char="•"/>
            </a:pPr>
            <a:r>
              <a:rPr lang="en-US" sz="33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scholars struggle with complex academic content</a:t>
            </a:r>
          </a:p>
          <a:p>
            <a:pPr algn="l" marL="714228" indent="-357114" lvl="1">
              <a:lnSpc>
                <a:spcPts val="5623"/>
              </a:lnSpc>
              <a:buFont typeface="Arial"/>
              <a:buChar char="•"/>
            </a:pPr>
            <a:r>
              <a:rPr lang="en-US" sz="33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Self-learners lack structured and guided explanations</a:t>
            </a:r>
          </a:p>
          <a:p>
            <a:pPr algn="l" marL="714228" indent="-357114" lvl="1">
              <a:lnSpc>
                <a:spcPts val="5623"/>
              </a:lnSpc>
              <a:buFont typeface="Arial"/>
              <a:buChar char="•"/>
            </a:pPr>
            <a:r>
              <a:rPr lang="en-US" sz="3308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Limited personalisation affects learning effectiveness</a:t>
            </a:r>
          </a:p>
          <a:p>
            <a:pPr algn="l" marL="0" indent="0" lvl="0">
              <a:lnSpc>
                <a:spcPts val="562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31905" cy="10287000"/>
            <a:chOff x="0" y="0"/>
            <a:chExt cx="16676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76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7662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5872" y="3449607"/>
            <a:ext cx="8115300" cy="5150128"/>
            <a:chOff x="0" y="0"/>
            <a:chExt cx="10820400" cy="686683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6371" t="0" r="6371" b="0"/>
            <a:stretch>
              <a:fillRect/>
            </a:stretch>
          </p:blipFill>
          <p:spPr>
            <a:xfrm flipH="false" flipV="false">
              <a:off x="0" y="0"/>
              <a:ext cx="10820400" cy="6866838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1573395" y="0"/>
            <a:ext cx="6714605" cy="10287000"/>
          </a:xfrm>
          <a:custGeom>
            <a:avLst/>
            <a:gdLst/>
            <a:ahLst/>
            <a:cxnLst/>
            <a:rect r="r" b="b" t="t" l="l"/>
            <a:pathLst>
              <a:path h="10287000" w="6714605">
                <a:moveTo>
                  <a:pt x="0" y="0"/>
                </a:moveTo>
                <a:lnTo>
                  <a:pt x="6714605" y="0"/>
                </a:lnTo>
                <a:lnTo>
                  <a:pt x="67146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7697" y="990600"/>
            <a:ext cx="5496713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SDG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3395" y="4618317"/>
            <a:ext cx="6269393" cy="322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04" indent="-273752" lvl="1">
              <a:lnSpc>
                <a:spcPts val="4311"/>
              </a:lnSpc>
              <a:buFont typeface="Arial"/>
              <a:buChar char="•"/>
            </a:pPr>
            <a:r>
              <a:rPr lang="en-US" sz="253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Ensures inclusive and equitable education</a:t>
            </a:r>
          </a:p>
          <a:p>
            <a:pPr algn="l" marL="547504" indent="-273752" lvl="1">
              <a:lnSpc>
                <a:spcPts val="4311"/>
              </a:lnSpc>
              <a:buFont typeface="Arial"/>
              <a:buChar char="•"/>
            </a:pPr>
            <a:r>
              <a:rPr lang="en-US" sz="253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Promotes lifelong learning opportunities</a:t>
            </a:r>
          </a:p>
          <a:p>
            <a:pPr algn="l" marL="547504" indent="-273752" lvl="1">
              <a:lnSpc>
                <a:spcPts val="4311"/>
              </a:lnSpc>
              <a:buFont typeface="Arial"/>
              <a:buChar char="•"/>
            </a:pPr>
            <a:r>
              <a:rPr lang="en-US" sz="253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Improves learning quality using AI</a:t>
            </a:r>
          </a:p>
          <a:p>
            <a:pPr algn="l" marL="547504" indent="-273752" lvl="1">
              <a:lnSpc>
                <a:spcPts val="4311"/>
              </a:lnSpc>
              <a:buFont typeface="Arial"/>
              <a:buChar char="•"/>
            </a:pPr>
            <a:r>
              <a:rPr lang="en-US" sz="2535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Reduces educational inequality</a:t>
            </a:r>
          </a:p>
          <a:p>
            <a:pPr algn="l" marL="0" indent="0" lvl="0">
              <a:lnSpc>
                <a:spcPts val="431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43404" y="3278157"/>
            <a:ext cx="5415896" cy="70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9"/>
              </a:lnSpc>
            </a:pPr>
            <a:r>
              <a:rPr lang="en-US" b="true" sz="34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SDG 4 – Quality Education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3096" y="990600"/>
            <a:ext cx="855501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0268" y="3154614"/>
            <a:ext cx="13447328" cy="558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8"/>
              </a:lnSpc>
            </a:pPr>
            <a:r>
              <a:rPr lang="en-US" sz="439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Adaptive Education AI provides:</a:t>
            </a:r>
          </a:p>
          <a:p>
            <a:pPr algn="l" marL="948514" indent="-474257" lvl="1">
              <a:lnSpc>
                <a:spcPts val="7468"/>
              </a:lnSpc>
              <a:buFont typeface="Arial"/>
              <a:buChar char="•"/>
            </a:pPr>
            <a:r>
              <a:rPr lang="en-US" sz="439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Validation of academic content</a:t>
            </a:r>
          </a:p>
          <a:p>
            <a:pPr algn="l" marL="948514" indent="-474257" lvl="1">
              <a:lnSpc>
                <a:spcPts val="7468"/>
              </a:lnSpc>
              <a:buFont typeface="Arial"/>
              <a:buChar char="•"/>
            </a:pPr>
            <a:r>
              <a:rPr lang="en-US" sz="439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Education-level adaptive explanations</a:t>
            </a:r>
          </a:p>
          <a:p>
            <a:pPr algn="l" marL="948514" indent="-474257" lvl="1">
              <a:lnSpc>
                <a:spcPts val="7468"/>
              </a:lnSpc>
              <a:buFont typeface="Arial"/>
              <a:buChar char="•"/>
            </a:pPr>
            <a:r>
              <a:rPr lang="en-US" sz="439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Academic refinement of responses</a:t>
            </a:r>
          </a:p>
          <a:p>
            <a:pPr algn="l" marL="948514" indent="-474257" lvl="1">
              <a:lnSpc>
                <a:spcPts val="7468"/>
              </a:lnSpc>
              <a:buFont typeface="Arial"/>
              <a:buChar char="•"/>
            </a:pPr>
            <a:r>
              <a:rPr lang="en-US" sz="439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Context-aware learning assistance</a:t>
            </a:r>
          </a:p>
          <a:p>
            <a:pPr algn="l" marL="0" indent="0" lvl="0">
              <a:lnSpc>
                <a:spcPts val="746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888432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High-Level Concept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68548"/>
            <a:ext cx="13658216" cy="487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4707" indent="-497354" lvl="1">
              <a:lnSpc>
                <a:spcPts val="7832"/>
              </a:lnSpc>
              <a:buFont typeface="Arial"/>
              <a:buChar char="•"/>
            </a:pPr>
            <a:r>
              <a:rPr lang="en-US" sz="46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ChatGPT for education-level adaptive learning</a:t>
            </a:r>
          </a:p>
          <a:p>
            <a:pPr algn="l" marL="994707" indent="-497354" lvl="1">
              <a:lnSpc>
                <a:spcPts val="7832"/>
              </a:lnSpc>
              <a:buFont typeface="Arial"/>
              <a:buChar char="•"/>
            </a:pPr>
            <a:r>
              <a:rPr lang="en-US" sz="46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Personalized AI tutor for every learner</a:t>
            </a:r>
          </a:p>
          <a:p>
            <a:pPr algn="l" marL="994707" indent="-497354" lvl="1">
              <a:lnSpc>
                <a:spcPts val="7832"/>
              </a:lnSpc>
              <a:buFont typeface="Arial"/>
              <a:buChar char="•"/>
            </a:pPr>
            <a:r>
              <a:rPr lang="en-US" sz="4607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Intelligent system that adjusts explanation depth automatically</a:t>
            </a:r>
          </a:p>
          <a:p>
            <a:pPr algn="l" marL="0" indent="0" lvl="0">
              <a:lnSpc>
                <a:spcPts val="783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43497" y="329306"/>
            <a:ext cx="9962580" cy="10287000"/>
            <a:chOff x="0" y="0"/>
            <a:chExt cx="1328344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576" t="0" r="1576" b="0"/>
            <a:stretch>
              <a:fillRect/>
            </a:stretch>
          </p:blipFill>
          <p:spPr>
            <a:xfrm flipH="false" flipV="false">
              <a:off x="0" y="0"/>
              <a:ext cx="1328344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5049770" y="-23521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90600"/>
            <a:ext cx="5520700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Target Users &amp; Early Users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35200"/>
            <a:ext cx="7114797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Target Users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School, undergraduate, and postgraduate students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Educators and tutors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Self-learners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27106" y="6382888"/>
            <a:ext cx="7066734" cy="252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38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Early Users</a:t>
            </a:r>
          </a:p>
          <a:p>
            <a:pPr algn="l" marL="514660" indent="-257330" lvl="1">
              <a:lnSpc>
                <a:spcPts val="4052"/>
              </a:lnSpc>
              <a:buFont typeface="Arial"/>
              <a:buChar char="•"/>
            </a:pPr>
            <a:r>
              <a:rPr lang="en-US" sz="238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Students preparing for exams</a:t>
            </a:r>
          </a:p>
          <a:p>
            <a:pPr algn="l" marL="514660" indent="-257330" lvl="1">
              <a:lnSpc>
                <a:spcPts val="4052"/>
              </a:lnSpc>
              <a:buFont typeface="Arial"/>
              <a:buChar char="•"/>
            </a:pPr>
            <a:r>
              <a:rPr lang="en-US" sz="238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scholars understanding research papers</a:t>
            </a:r>
          </a:p>
          <a:p>
            <a:pPr algn="l" marL="514660" indent="-257330" lvl="1">
              <a:lnSpc>
                <a:spcPts val="4052"/>
              </a:lnSpc>
              <a:buFont typeface="Arial"/>
              <a:buChar char="•"/>
            </a:pPr>
            <a:r>
              <a:rPr lang="en-US" sz="2383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Learners requiring step-by-step explanations</a:t>
            </a:r>
          </a:p>
          <a:p>
            <a:pPr algn="l" marL="0" indent="0" lvl="0">
              <a:lnSpc>
                <a:spcPts val="405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20642" y="1940141"/>
            <a:ext cx="11505485" cy="6076968"/>
            <a:chOff x="0" y="0"/>
            <a:chExt cx="15340647" cy="810262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361" r="0" b="3361"/>
            <a:stretch>
              <a:fillRect/>
            </a:stretch>
          </p:blipFill>
          <p:spPr>
            <a:xfrm flipH="false" flipV="false">
              <a:off x="0" y="0"/>
              <a:ext cx="15340647" cy="810262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3183943" y="645470"/>
            <a:ext cx="627339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System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561" y="2694562"/>
            <a:ext cx="7085810" cy="449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190" indent="-326095" lvl="1">
              <a:lnSpc>
                <a:spcPts val="5135"/>
              </a:lnSpc>
              <a:buFont typeface="Arial"/>
              <a:buChar char="•"/>
            </a:pPr>
            <a:r>
              <a:rPr lang="en-US" sz="302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 submits an academic query</a:t>
            </a:r>
          </a:p>
          <a:p>
            <a:pPr algn="l" marL="652190" indent="-326095" lvl="1">
              <a:lnSpc>
                <a:spcPts val="5135"/>
              </a:lnSpc>
              <a:buFont typeface="Arial"/>
              <a:buChar char="•"/>
            </a:pPr>
            <a:r>
              <a:rPr lang="en-US" sz="302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validates content correctness</a:t>
            </a:r>
          </a:p>
          <a:p>
            <a:pPr algn="l" marL="652190" indent="-326095" lvl="1">
              <a:lnSpc>
                <a:spcPts val="5135"/>
              </a:lnSpc>
              <a:buFont typeface="Arial"/>
              <a:buChar char="•"/>
            </a:pPr>
            <a:r>
              <a:rPr lang="en-US" sz="302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Education level is identified</a:t>
            </a:r>
          </a:p>
          <a:p>
            <a:pPr algn="l" marL="652190" indent="-326095" lvl="1">
              <a:lnSpc>
                <a:spcPts val="5135"/>
              </a:lnSpc>
              <a:buFont typeface="Arial"/>
              <a:buChar char="•"/>
            </a:pPr>
            <a:r>
              <a:rPr lang="en-US" sz="302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Explanation depth is adapted</a:t>
            </a:r>
          </a:p>
          <a:p>
            <a:pPr algn="l" marL="652190" indent="-326095" lvl="1">
              <a:lnSpc>
                <a:spcPts val="5135"/>
              </a:lnSpc>
              <a:buFont typeface="Arial"/>
              <a:buChar char="•"/>
            </a:pPr>
            <a:r>
              <a:rPr lang="en-US" sz="302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Refined academic response is generated</a:t>
            </a:r>
          </a:p>
          <a:p>
            <a:pPr algn="l" marL="0" indent="0" lvl="0">
              <a:lnSpc>
                <a:spcPts val="513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44500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1316664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Enhancements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9782" y="3031991"/>
            <a:ext cx="12424484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 Enhancements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Cloud-based deployment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Multi-language learning support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Subject-specific learning modules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Integration with educational platforms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99782" y="6403233"/>
            <a:ext cx="13327131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Adaptive Education AI addresses real learning challenges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Demonstrates applied and agentic AI skills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Strongly aligned with SDG 4 goals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DAG-160WkrY</dc:identifier>
  <dcterms:modified xsi:type="dcterms:W3CDTF">2011-08-01T06:04:30Z</dcterms:modified>
  <cp:revision>1</cp:revision>
  <dc:title>CSIRBOX-intership</dc:title>
</cp:coreProperties>
</file>